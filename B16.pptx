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embeddedFontLst>
    <p:embeddedFont>
      <p:font typeface="DM Sans"/>
      <p:regular r:id="rId201314"/>
    </p:embeddedFont>
    <p:embeddedFont>
      <p:font typeface="DM Sans SemiBold"/>
      <p:regular r:id="rId201315"/>
    </p:embeddedFont>
    <p:embeddedFont>
      <p:font typeface="DM Sans Bold"/>
      <p:regular r:id="rId201316"/>
    </p:embeddedFont>
    <p:embeddedFont>
      <p:font typeface="DM Sans Black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34728"/>
            <a:ext cx="10868745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Text Document Plagiarism Detector using Merkle Trees and Hashing Techniques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998887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3449538"/>
            <a:ext cx="10868745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Course: Advanced Data Science and Algorithms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Group: B16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Team Members: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Adithya.R - CB.AI.U4AID25102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S.Manoj - CB.AI.U4AID25152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56682" y="4958655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7974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Introduction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327176"/>
            <a:ext cx="10868745" cy="3051076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Copy-pasting text across academic assignments, research papers, and web articles has become effortless and widespread.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Educational institutions and digital publishers handle thousands of submissions daily, rendering manual checking impossible.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Standard plagiarism detectors rely on document fingerprinting, converting text into hashes to compare against a central database.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Existing systems process files sequentially line-by-line or hash-by-hash, running in O(N) linear time.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Linearly comparing large files across massive repositories creates severe server latency, high computing costs, and processing bottlenecks.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Current tools re-scan an entire document from scratch even if only a single sentence or paragraph was modified.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Instead of flat, linear scans, we organize document hashes into a hierarchical Merkle Hash Tree paired with a Hash Table.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structure enables O(1) instant detection at the root for identical files, and O(log N) targeted search to pinpoint exact copied paragraphs without re-checking clean text.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6005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Why we chose this?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907480"/>
            <a:ext cx="10868745" cy="1174155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Practical implementation of core DSA concepts—Binary Trees, Hash Functions, and Sliding Windows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Traditional plagiarism detection tools are highly vulnerable to modern evasion tricks, failing when text is slightly rephrased, modified, or inserted.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Learning new concepts - Rabin Karp rolling hash algorithm, Lexicographical Sorting for trees and etc.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332968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Problem Statement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4094460"/>
            <a:ext cx="10868745" cy="1703388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Standard Merkle Tree plagiarism detectors rely on rigid block segmentation and strict positional ordering, causing minor insertions, deletions, or paragraph shuffling to break downstream hash alignment.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Leaf-level reliance on exact cryptographic hashes like SHA-256 fails to identify localized rephrasing, minor typos, and partial text modifications.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Sequential, single-threaded execution creates high computational latency and severe bottlenecks when scaling to large document repositories.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203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Literature Review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1439466"/>
            <a:ext cx="10868745" cy="4826496"/>
          </a:xfrm>
          <a:prstGeom prst="roundRect">
            <a:avLst>
              <a:gd name="adj" fmla="val 3084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825" y="1445816"/>
            <a:ext cx="10856046" cy="47575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33218" y="1551384"/>
            <a:ext cx="184234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Authors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402919" y="1551384"/>
            <a:ext cx="267506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Title of Paper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05342" y="1551384"/>
            <a:ext cx="371614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Their Methods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48841" y="1551384"/>
            <a:ext cx="371932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67825" y="1921570"/>
            <a:ext cx="10856046" cy="153422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33218" y="2027138"/>
            <a:ext cx="1232762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S. Schleimer, D. S. Wilkerson, &amp; A. Aiken</a:t>
            </a:r>
            <a:pPr algn="l" indent="0" marL="0">
              <a:lnSpc>
                <a:spcPct val="133000"/>
              </a:lnSpc>
              <a:buNone/>
            </a:pPr>
            <a:r>
              <a:rPr lang="en-US" sz="1300" i="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(2003)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02919" y="2027138"/>
            <a:ext cx="206548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Winnowing: Local Algorithms for Document Fingerprinting  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5342" y="2027138"/>
            <a:ext cx="3106561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Converts raw text into k-grams, computes rolling hashes across a sliding window, and selects local minimum hash values to create a compact fingerprint list.  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48841" y="2027138"/>
            <a:ext cx="3109735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Produces a flat list of hashes with linear O(N) comparison overhead; vulnerable to paragraph-level structural reordering.  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67825" y="3455789"/>
            <a:ext cx="10856046" cy="153422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33218" y="3561358"/>
            <a:ext cx="1232762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B. Leonardo et al.</a:t>
            </a:r>
            <a:pPr algn="l" indent="0" marL="0">
              <a:lnSpc>
                <a:spcPct val="133000"/>
              </a:lnSpc>
              <a:buNone/>
            </a:pPr>
            <a:r>
              <a:rPr lang="en-US" sz="1300" i="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(2017)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402919" y="3561358"/>
            <a:ext cx="2065484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Text Documents Plagiarism Detection using Rabin-Karp and String Similarity Algorithms  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5342" y="3561358"/>
            <a:ext cx="3106561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Applies the Rabin-Karp rolling hash algorithm to text streams, evaluating overlapping substring hashes in O(1) constant time to identify verbatim sequence matches.  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48841" y="3561358"/>
            <a:ext cx="3109735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Does not construct hierarchical data structures for early pruning; highly sensitive to structural section reordering.  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67825" y="4990009"/>
            <a:ext cx="10856046" cy="126960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33218" y="5095577"/>
            <a:ext cx="1232762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T. L. Trinh &amp; M. T. Ta</a:t>
            </a:r>
            <a:pPr algn="l" indent="0" marL="0">
              <a:lnSpc>
                <a:spcPct val="133000"/>
              </a:lnSpc>
              <a:buNone/>
            </a:pPr>
            <a:r>
              <a:rPr lang="en-US" sz="1300" i="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(2025)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402919" y="5095577"/>
            <a:ext cx="2065484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pHash-Enhanced Merkle Tree: An Advanced Approach for Detecting Content Violations  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05342" y="5095577"/>
            <a:ext cx="3106561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Organizes content feature hashes into a binary Merkle Tree structure to enable hierarchical top-down similarity checking and sub-tree verification.  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48841" y="5095577"/>
            <a:ext cx="3109735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Standard binary tree nodes are strictly position-dependent, causing whole-tree mismatches if internal paragraph node order is swapped.  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5353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Novelty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2100957"/>
            <a:ext cx="10868745" cy="3503414"/>
          </a:xfrm>
          <a:prstGeom prst="roundRect">
            <a:avLst>
              <a:gd name="adj" fmla="val 4249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825" y="2107307"/>
            <a:ext cx="10856046" cy="47575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33119" y="2212876"/>
            <a:ext cx="570384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Research Gap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64317" y="2212876"/>
            <a:ext cx="570384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Our Novelty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67825" y="2583061"/>
            <a:ext cx="10856046" cy="100498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33119" y="2688630"/>
            <a:ext cx="5094259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Flat fingerprint lists require linear O(N) scanning across database documents, slowing down large-scale checks.  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64317" y="2688630"/>
            <a:ext cx="5094259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 aggregate fingerprints into a Merkle Tree. If parent hashes match, we skip checking entire sub-trees, reducing comparison time from O(N) linear scanning to O(log N).  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7825" y="3588048"/>
            <a:ext cx="10856046" cy="100498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33119" y="3693616"/>
            <a:ext cx="5094259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Standard cryptographic Merkle trees use exact hashes (e.g., SHA-256) at leaf nodes, breaking completely if a single character or typo is edited.  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64317" y="3693616"/>
            <a:ext cx="5094259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 embed Rabin-Karp rolling hashes directly at the leaf level inside dynamic sliding windows. This catches fine-grained rephrasing and micro-edits within tree chunks.  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7825" y="4593034"/>
            <a:ext cx="10856046" cy="100498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33119" y="4698603"/>
            <a:ext cx="5094259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Standard Merkle trees fail when paragraph order is swapped because parent hashing is strictly position-dependent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4317" y="4698603"/>
            <a:ext cx="5094259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 sort child hashes lexicographically before computing parent nodes. This makes the overall Merkle Root completely immune to paragraph/section reordering.  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9882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Objectives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546251"/>
            <a:ext cx="10868745" cy="2612926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Detect Micro-Edits &amp; Localized Rephrasing: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Catch fine-grained text modifications, minor typos, and word substitutions using Rabin-Karp rolling hashes.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Neutralize Structural Shuffling Evasion: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Eliminate paragraph and section reordering vulnerabilities by making the Merkle Tree order-invariant through canonical sorting.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Accelerate Document Comparison Speed: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Reduce search time complexity from linear O(N) scanning down to logarithmic O(log N) using sub-tree pruning.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Pinpoint Exact Plagiarized Content: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Provide precise location highlights of copied text within documents rather than just a broad similarity score.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Optimize System Throughput: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Implement a multi-threaded parallel pipeline to process and compare document trees efficiently at scale.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8644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Workflow Diagram</a:t>
            </a:r>
            <a:endParaRPr lang="en-US" sz="3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5793" y="1368028"/>
            <a:ext cx="8240109" cy="4498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034187"/>
            <a:ext cx="11478330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02209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Methodology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649637"/>
            <a:ext cx="10868745" cy="2406154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Text Preprocessing: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Strip special characters, spaces, and convert text to lowercase to create a uniform string stream.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Document Chunking: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Divide the cleaned text into sliding sub-string windows for localized content checking.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Rabin-Karp Leaf Hashing: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Generate rolling sub-string hashes at the leaf level in constant O(1) time to catch micro-edits and rephrasing.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Canonical Child Sorting: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Sort adjacent child hashes alphabetically before parent node computation so swapped paragraphs produce identical hashes.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Bottom-Up Merkle Tree Build: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Recursively pair and hash the sorted child nodes up to a single top-level Merkle Root.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Top-Down Logarithmic Traversal: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Compare tree nodes from the root down, pruning identical branches in O(log N) time to generate similarity scores and pinpoint copied text locations.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12873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Expected Output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976166"/>
            <a:ext cx="11478330" cy="264616"/>
          </a:xfrm>
          <a:prstGeom prst="rect">
            <a:avLst/>
          </a:prstGeom>
          <a:noFill/>
          <a:ln/>
        </p:spPr>
        <p:txBody>
          <a:bodyPr wrap="none" lIns="0" tIns="66156" rIns="0" bIns="0" rtlCol="0" anchor="t"/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Plagiarism Similarity Score (%):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 calculated similarity ratio based on matched leaf nodes: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26085" y="3426817"/>
            <a:ext cx="1121372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{Similarity Score} = ( {Matched Leaf Hashes} / {Total Unique Leaf Hashes}) x 100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61475" y="3877469"/>
            <a:ext cx="10868745" cy="851694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Detailed Match Offset Report: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 mapped list of plagiarized sub-strings with exact start and end character positions in the target document.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Paragraph Shuffling Immunity Proof: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Verification logs showing that swapped sections yield identical parent branch hashes.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11832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Future Work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965748"/>
            <a:ext cx="10868745" cy="1773932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Dynamic Variable Chunking: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Upgrade from fixed-size windows to feature-driven boundaries so adding a single word doesn't offset downstream leaf hashes.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Multi-Format File Support: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Add parsing for 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.pdf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and 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.docx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files instead of relying only on plain 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.txt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inputs.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Exportable PDF Summary Report: 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 a simple library like 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reportlab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or HTML-to-PDF to dump the final similarity percentage and matched text snippets into a downloadable PDF report.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Multi-Document Comparison: 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Increase the number of comparable documents from 1 one 1 comparison.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2128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References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868712"/>
            <a:ext cx="10868745" cy="1968004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S. Schleimer, D. S. Wilkerson, and A. Aiken, "Winnowing: Local algorithms for document fingerprinting," 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i="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Proceedings of the ACM SIGMOD International Conference on Management of Data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2003.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i="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(Serves as the foundation for our dynamic chunking and local document fingerprinting algorithm.)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R. C. Merkle, "A Digital Signature Based on a Conventional Encryption Function," 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i="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Advances in Cryptology — CRYPTO '87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Springer, 1988.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i="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(Provides the core cryptographic framework for hierarchical tree aggregation and hash verification.)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T. L. Trinh and M. T. Ta, "pHash-enhanced Merkle Tree: An advanced approach for detecting and preventing copyright violations in NFT marketplaces," 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i="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Research Article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Oct. 2025.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2026-08-15T08:34:05Z</dcterms:created>
  <dcterms:modified xsi:type="dcterms:W3CDTF">2026-08-15T08:34:05Z</dcterms:modified>
</cp:coreProperties>
</file>